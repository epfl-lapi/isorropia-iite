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6196" r:id="rId1"/>
  </p:sldMasterIdLst>
  <p:notesMasterIdLst>
    <p:notesMasterId r:id="rId5"/>
  </p:notesMasterIdLst>
  <p:handoutMasterIdLst>
    <p:handoutMasterId r:id="rId6"/>
  </p:handoutMasterIdLst>
  <p:sldIdLst>
    <p:sldId id="447" r:id="rId2"/>
    <p:sldId id="448" r:id="rId3"/>
    <p:sldId id="449" r:id="rId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17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353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53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706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5883" algn="l" defTabSz="914353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060" algn="l" defTabSz="914353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236" algn="l" defTabSz="914353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413" algn="l" defTabSz="914353" rtl="0" eaLnBrk="1" latinLnBrk="0" hangingPunct="1">
      <a:defRPr sz="24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thanasios Nenes" initials="a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  <a:srgbClr val="000066"/>
    <a:srgbClr val="5B9BD5"/>
    <a:srgbClr val="FFFFCC"/>
    <a:srgbClr val="FFFFFF"/>
    <a:srgbClr val="CCECFF"/>
    <a:srgbClr val="F8F8F8"/>
    <a:srgbClr val="CC3300"/>
    <a:srgbClr val="FFFF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53" autoAdjust="0"/>
    <p:restoredTop sz="98268" autoAdjust="0"/>
  </p:normalViewPr>
  <p:slideViewPr>
    <p:cSldViewPr>
      <p:cViewPr varScale="1">
        <p:scale>
          <a:sx n="138" d="100"/>
          <a:sy n="138" d="100"/>
        </p:scale>
        <p:origin x="89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794" y="-78"/>
      </p:cViewPr>
      <p:guideLst>
        <p:guide orient="horz" pos="3023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t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9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9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b" anchorCtr="0" compatLnSpc="1">
            <a:prstTxWarp prst="textNoShape">
              <a:avLst/>
            </a:prstTxWarp>
          </a:bodyPr>
          <a:lstStyle>
            <a:lvl1pPr defTabSz="96520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9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C707ED3-2F65-4765-A3F7-8C172BF144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564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t" anchorCtr="0" compatLnSpc="1">
            <a:prstTxWarp prst="textNoShape">
              <a:avLst/>
            </a:prstTxWarp>
          </a:bodyPr>
          <a:lstStyle>
            <a:lvl1pPr defTabSz="96520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17550"/>
            <a:ext cx="4781550" cy="3586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41838"/>
            <a:ext cx="5365750" cy="430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271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085263"/>
            <a:ext cx="3170238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b" anchorCtr="0" compatLnSpc="1">
            <a:prstTxWarp prst="textNoShape">
              <a:avLst/>
            </a:prstTxWarp>
          </a:bodyPr>
          <a:lstStyle>
            <a:lvl1pPr defTabSz="965200">
              <a:defRPr sz="13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1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085263"/>
            <a:ext cx="3170237" cy="477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42" tIns="48221" rIns="96442" bIns="4822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 smtClean="0"/>
            </a:lvl1pPr>
          </a:lstStyle>
          <a:p>
            <a:pPr>
              <a:defRPr/>
            </a:pPr>
            <a:fld id="{5AF09602-EBE0-4D22-BEFA-C07EE8123C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510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17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35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706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0D0BD-A8C3-4E3C-A134-7A71E1D6CB0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3253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0D0BD-A8C3-4E3C-A134-7A71E1D6CB0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155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50D0BD-A8C3-4E3C-A134-7A71E1D6CB0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813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C021B-34FB-4341-96CD-38B33BAAE599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9972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AD252-7C50-4245-84CA-65BAE2609517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6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4297-97AE-4239-A713-B5827CFB837A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422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6ECEE-FA94-4B8F-A1A0-098556C630A0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8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C31D-AC13-4568-8597-D5E846BEE0E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23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3768-82D2-46A0-A960-1B33BA386245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6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AE8A-CCAA-4E16-94C1-24A1C2B9CFA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477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A67B-7E42-42A8-BF93-5413E4408EB2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70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059B-1504-4D17-983F-6B412C219943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241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ED49-E72A-4F7B-A2BD-326982C27DFF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398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995B0-EF83-4C67-AAB0-73141B1C0E5B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10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D8843-E26F-4C91-BBB4-CA6D8D8FBF1B}" type="datetime1">
              <a:rPr lang="en-US" altLang="zh-CN" smtClean="0">
                <a:solidFill>
                  <a:prstClr val="black">
                    <a:tint val="75000"/>
                  </a:prstClr>
                </a:solidFill>
              </a:rPr>
              <a:pPr/>
              <a:t>3/1/2021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19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6197" r:id="rId1"/>
    <p:sldLayoutId id="2147486198" r:id="rId2"/>
    <p:sldLayoutId id="2147486199" r:id="rId3"/>
    <p:sldLayoutId id="2147486200" r:id="rId4"/>
    <p:sldLayoutId id="2147486201" r:id="rId5"/>
    <p:sldLayoutId id="2147486202" r:id="rId6"/>
    <p:sldLayoutId id="2147486203" r:id="rId7"/>
    <p:sldLayoutId id="2147486204" r:id="rId8"/>
    <p:sldLayoutId id="2147486205" r:id="rId9"/>
    <p:sldLayoutId id="2147486206" r:id="rId10"/>
    <p:sldLayoutId id="21474862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09600"/>
            <a:ext cx="9144000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967041" y="5301852"/>
            <a:ext cx="21499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http://isorropia.epfl.ch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504" y="44624"/>
            <a:ext cx="2517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ISORROPIA-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ΙΙ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505" y="746331"/>
            <a:ext cx="5098970" cy="1596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ISORROPIA-II calculates: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composition and phase state of an NH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-SO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-NO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-Cl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-Na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-Ca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-K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-Mg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-water inorganic aerosol in equilibrium with gases</a:t>
            </a:r>
          </a:p>
        </p:txBody>
      </p:sp>
      <p:sp>
        <p:nvSpPr>
          <p:cNvPr id="19" name="Oval 18"/>
          <p:cNvSpPr/>
          <p:nvPr/>
        </p:nvSpPr>
        <p:spPr>
          <a:xfrm>
            <a:off x="5480974" y="982053"/>
            <a:ext cx="3017520" cy="3017520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108281" y="3602103"/>
            <a:ext cx="21415" cy="7699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898997" y="3602103"/>
            <a:ext cx="7357" cy="71998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0" y="1865627"/>
            <a:ext cx="32865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Non-volatile: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Na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Ca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K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Mg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OH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HSO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SO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6484" y="1143000"/>
            <a:ext cx="1666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Liquid phase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1047" y="4343270"/>
            <a:ext cx="15619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Gas phase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861606" y="2858869"/>
            <a:ext cx="25203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Semi-volatile: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NH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NO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Cl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07471" y="4774246"/>
            <a:ext cx="240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HNO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NH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095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09600"/>
            <a:ext cx="9144000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5967041" y="5301852"/>
            <a:ext cx="214994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Times New Roman" pitchFamily="18" charset="0"/>
              </a:rPr>
              <a:t>http://isorropia.epfl.ch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04" y="746331"/>
            <a:ext cx="5348333" cy="57610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ISORROPIA-3 calculates: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composition and phase state of an NH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-SO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-NO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-Cl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-Na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-Ca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-K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-Mg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-water inorganic aerosol in equilibrium with gases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Assumptions: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 phase where organics are mixed with inorganics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Effect of organics is to include water in the p</a:t>
            </a:r>
            <a:r>
              <a:rPr lang="en-US" sz="1800" dirty="0" err="1">
                <a:solidFill>
                  <a:prstClr val="black"/>
                </a:solidFill>
                <a:cs typeface="Arial" panose="020B0604020202020204" pitchFamily="34" charset="0"/>
              </a:rPr>
              <a:t>artitioning</a:t>
            </a:r>
            <a:r>
              <a:rPr lang="en-US" sz="1800" dirty="0">
                <a:solidFill>
                  <a:prstClr val="black"/>
                </a:solidFill>
                <a:cs typeface="Arial" panose="020B0604020202020204" pitchFamily="34" charset="0"/>
              </a:rPr>
              <a:t> of inorganics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Water uptake is </a:t>
            </a:r>
            <a:r>
              <a:rPr lang="en-US" sz="1800" dirty="0">
                <a:solidFill>
                  <a:prstClr val="black"/>
                </a:solidFill>
                <a:cs typeface="Arial" panose="020B0604020202020204" pitchFamily="34" charset="0"/>
              </a:rPr>
              <a:t>parameterized in terms of organic mass, and hygroscopicity parameter</a:t>
            </a: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 version:</a:t>
            </a:r>
            <a:r>
              <a:rPr lang="en-US" sz="1800" b="1" dirty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prstClr val="black"/>
                </a:solidFill>
                <a:cs typeface="Arial" panose="020B0604020202020204" pitchFamily="34" charset="0"/>
              </a:rPr>
              <a:t>metastable aerosol only</a:t>
            </a:r>
          </a:p>
          <a:p>
            <a:pPr marR="0" lvl="0" algn="l" defTabSz="914400" rtl="0" eaLnBrk="1" fontAlgn="auto" latinLnBrk="0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Full version</a:t>
            </a:r>
            <a:r>
              <a:rPr lang="en-US" sz="1800" b="1" dirty="0">
                <a:solidFill>
                  <a:prstClr val="black"/>
                </a:solidFill>
                <a:cs typeface="Arial" panose="020B0604020202020204" pitchFamily="34" charset="0"/>
              </a:rPr>
              <a:t>: </a:t>
            </a:r>
            <a:r>
              <a:rPr lang="en-US" sz="1800" dirty="0">
                <a:solidFill>
                  <a:prstClr val="black"/>
                </a:solidFill>
                <a:cs typeface="Arial" panose="020B0604020202020204" pitchFamily="34" charset="0"/>
              </a:rPr>
              <a:t>stable/metastable option</a:t>
            </a:r>
            <a:r>
              <a:rPr lang="el-GR" sz="1800" dirty="0">
                <a:solidFill>
                  <a:prstClr val="black"/>
                </a:solidFill>
                <a:cs typeface="Arial" panose="020B0604020202020204" pitchFamily="34" charset="0"/>
              </a:rPr>
              <a:t> </a:t>
            </a:r>
            <a:r>
              <a:rPr lang="en-US" sz="1800">
                <a:solidFill>
                  <a:prstClr val="black"/>
                </a:solidFill>
                <a:cs typeface="Arial" panose="020B0604020202020204" pitchFamily="34" charset="0"/>
              </a:rPr>
              <a:t>also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480974" y="982053"/>
            <a:ext cx="3017520" cy="3017520"/>
          </a:xfrm>
          <a:prstGeom prst="ellipse">
            <a:avLst/>
          </a:prstGeom>
          <a:solidFill>
            <a:srgbClr val="00B0F0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108281" y="3602103"/>
            <a:ext cx="21415" cy="769922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898997" y="3602103"/>
            <a:ext cx="7357" cy="71998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0" y="1865627"/>
            <a:ext cx="32865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Non-volatile: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Na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Ca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K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Mg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OH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HSO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SO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solidFill>
                  <a:srgbClr val="FF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Organics</a:t>
            </a:r>
            <a:endParaRPr kumimoji="0" lang="en-US" sz="1800" b="0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56484" y="1143000"/>
            <a:ext cx="16665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Liquid phase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1047" y="4343270"/>
            <a:ext cx="15619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Gas phase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861606" y="2858869"/>
            <a:ext cx="25203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1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Semi-volatile: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NH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NO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Cl</a:t>
            </a:r>
            <a:r>
              <a:rPr kumimoji="0" lang="en-US" altLang="zh-CN" sz="1800" b="0" i="0" u="none" strike="noStrike" kern="1200" cap="none" spc="0" normalizeH="0" baseline="30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</a:t>
            </a:r>
            <a:r>
              <a:rPr kumimoji="0" lang="en-US" altLang="zh-CN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907471" y="4774246"/>
            <a:ext cx="24016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HNO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HCl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NH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H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F1BA8-8FA9-4F56-8335-CCECF6DFD023}"/>
              </a:ext>
            </a:extLst>
          </p:cNvPr>
          <p:cNvSpPr txBox="1"/>
          <p:nvPr/>
        </p:nvSpPr>
        <p:spPr>
          <a:xfrm>
            <a:off x="107504" y="44624"/>
            <a:ext cx="55883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ISORROPIA-</a:t>
            </a:r>
            <a:r>
              <a:rPr kumimoji="0" lang="el-GR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ΙΙΙ, 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ISORROPIA-Lite</a:t>
            </a:r>
          </a:p>
        </p:txBody>
      </p:sp>
    </p:spTree>
    <p:extLst>
      <p:ext uri="{BB962C8B-B14F-4D97-AF65-F5344CB8AC3E}">
        <p14:creationId xmlns:p14="http://schemas.microsoft.com/office/powerpoint/2010/main" val="362125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609600"/>
            <a:ext cx="9144000" cy="0"/>
          </a:xfrm>
          <a:prstGeom prst="line">
            <a:avLst/>
          </a:prstGeom>
          <a:effectLst>
            <a:glow rad="635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D4EF1BA8-8FA9-4F56-8335-CCECF6DFD023}"/>
              </a:ext>
            </a:extLst>
          </p:cNvPr>
          <p:cNvSpPr txBox="1"/>
          <p:nvPr/>
        </p:nvSpPr>
        <p:spPr>
          <a:xfrm>
            <a:off x="107504" y="44624"/>
            <a:ext cx="5077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宋体" panose="02010600030101010101" pitchFamily="2" charset="-122"/>
                <a:cs typeface="Arial" panose="020B0604020202020204" pitchFamily="34" charset="0"/>
              </a:rPr>
              <a:t>ISORROPIA-3 (some results)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A52B7-D40B-4C14-ABD1-4661F8DC8779}"/>
              </a:ext>
            </a:extLst>
          </p:cNvPr>
          <p:cNvSpPr/>
          <p:nvPr/>
        </p:nvSpPr>
        <p:spPr>
          <a:xfrm>
            <a:off x="228601" y="752886"/>
            <a:ext cx="5698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prstClr val="black"/>
                </a:solidFill>
                <a:cs typeface="Arial" panose="020B0604020202020204" pitchFamily="34" charset="0"/>
              </a:rPr>
              <a:t>Modified Input file (shaded column is the only change)</a:t>
            </a:r>
            <a:endParaRPr lang="LID4096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BF16AF-88F7-4A18-8398-2B9E59950961}"/>
              </a:ext>
            </a:extLst>
          </p:cNvPr>
          <p:cNvGrpSpPr/>
          <p:nvPr/>
        </p:nvGrpSpPr>
        <p:grpSpPr>
          <a:xfrm>
            <a:off x="228601" y="1143000"/>
            <a:ext cx="5791200" cy="2522899"/>
            <a:chOff x="228601" y="1143000"/>
            <a:chExt cx="5791200" cy="252289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329AF34-2ED4-4955-A382-3843818BC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1" y="1143000"/>
              <a:ext cx="5791200" cy="252289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C01FD0A-00CA-4659-BD56-5E4CEF5FE990}"/>
                </a:ext>
              </a:extLst>
            </p:cNvPr>
            <p:cNvSpPr/>
            <p:nvPr/>
          </p:nvSpPr>
          <p:spPr>
            <a:xfrm>
              <a:off x="3352800" y="2209800"/>
              <a:ext cx="1295400" cy="990600"/>
            </a:xfrm>
            <a:prstGeom prst="rect">
              <a:avLst/>
            </a:prstGeom>
            <a:solidFill>
              <a:srgbClr val="00B0F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742B03F-9289-4667-A568-56DFE8896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7" y="3352800"/>
            <a:ext cx="4517528" cy="3432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AA8776-8B8C-4334-A549-37C4AED49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810000"/>
            <a:ext cx="2990593" cy="212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831672"/>
      </p:ext>
    </p:extLst>
  </p:cSld>
  <p:clrMapOvr>
    <a:masterClrMapping/>
  </p:clrMapOvr>
</p:sld>
</file>

<file path=ppt/theme/theme1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6117</TotalTime>
  <Words>229</Words>
  <Application>Microsoft Office PowerPoint</Application>
  <PresentationFormat>On-screen Show (4:3)</PresentationFormat>
  <Paragraphs>32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宋体</vt:lpstr>
      <vt:lpstr>Arial</vt:lpstr>
      <vt:lpstr>Calibri</vt:lpstr>
      <vt:lpstr>Comic Sans MS</vt:lpstr>
      <vt:lpstr>Times New Roman</vt:lpstr>
      <vt:lpstr>9_Office Theme</vt:lpstr>
      <vt:lpstr>PowerPoint Presentation</vt:lpstr>
      <vt:lpstr>PowerPoint Presentation</vt:lpstr>
      <vt:lpstr>PowerPoint Presentation</vt:lpstr>
    </vt:vector>
  </TitlesOfParts>
  <Company>eas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christos</dc:creator>
  <cp:lastModifiedBy>nenes</cp:lastModifiedBy>
  <cp:revision>1200</cp:revision>
  <cp:lastPrinted>2014-11-17T23:25:03Z</cp:lastPrinted>
  <dcterms:created xsi:type="dcterms:W3CDTF">2006-04-04T16:39:43Z</dcterms:created>
  <dcterms:modified xsi:type="dcterms:W3CDTF">2021-03-01T20:30:44Z</dcterms:modified>
</cp:coreProperties>
</file>